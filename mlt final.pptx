
<file path=[Content_Types].xml><?xml version="1.0" encoding="utf-8"?>
<Types xmlns="http://schemas.openxmlformats.org/package/2006/content-types">
  <Default ContentType="application/xml" Extension="xml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7.xml"/><Relationship Id="rId22" Type="http://schemas.openxmlformats.org/officeDocument/2006/relationships/slide" Target="slides/slide17.xml"/><Relationship Id="rId10" Type="http://schemas.openxmlformats.org/officeDocument/2006/relationships/slide" Target="slides/slide6.xml"/><Relationship Id="rId21" Type="http://schemas.openxmlformats.org/officeDocument/2006/relationships/slide" Target="slides/slide16.xml"/><Relationship Id="rId13" Type="http://schemas.openxmlformats.org/officeDocument/2006/relationships/slide" Target="slides/slide9.xml"/><Relationship Id="rId24" Type="http://schemas.openxmlformats.org/officeDocument/2006/relationships/slide" Target="slides/slide19.xml"/><Relationship Id="rId12" Type="http://schemas.openxmlformats.org/officeDocument/2006/relationships/slide" Target="slides/slide8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0.xml"/><Relationship Id="rId14" Type="http://schemas.openxmlformats.org/officeDocument/2006/relationships/slide" Target="slides/slide20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slide" Target="slides/slide1.xml"/><Relationship Id="rId19" Type="http://schemas.openxmlformats.org/officeDocument/2006/relationships/slide" Target="slides/slide14.xml"/><Relationship Id="rId6" Type="http://schemas.openxmlformats.org/officeDocument/2006/relationships/slide" Target="slides/slide2.xml"/><Relationship Id="rId18" Type="http://schemas.openxmlformats.org/officeDocument/2006/relationships/slide" Target="slides/slide13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707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. Ramakrishnan College of Technolog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8" y="274320"/>
            <a:ext cx="5303520" cy="18562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286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697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Year: 2026 – 2027 (Odd Semester)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089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AGI1242 – MACHINE LEARNING TECHNIQUES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566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 2 REVIEW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4206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 :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46177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2503811724322073 – Ponoaviyam A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2503811724321101 – Silwester S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2503811724322102 – Sivadharshini S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2503811724322104 – Sruthi A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2503811724322115 – Vaishanavi 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4206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by :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46177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 P. B. Aravind Prasad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B.E., M.Tech.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AI&amp;DS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PROJECT TITLE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tx1"/>
                </a:solidFill>
              </a:rPr>
              <a:t>ML-Based Price Manipulation Pattern Detection Framework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"/>
          <p:cNvSpPr txBox="1"/>
          <p:nvPr/>
        </p:nvSpPr>
        <p:spPr>
          <a:xfrm>
            <a:off x="823015" y="388887"/>
            <a:ext cx="11064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Google Shape;43;p1"/>
          <p:cNvSpPr txBox="1"/>
          <p:nvPr/>
        </p:nvSpPr>
        <p:spPr>
          <a:xfrm>
            <a:off x="823025" y="1530074"/>
            <a:ext cx="10424100" cy="3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 Objective and PICOC Framework</a:t>
            </a:r>
            <a:endParaRPr/>
          </a:p>
          <a:p>
            <a:pPr indent="-12700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Identification and Proposed Flow Diagram</a:t>
            </a:r>
            <a:endParaRPr/>
          </a:p>
          <a:p>
            <a:pPr indent="-12700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Literature Survey, Synthesis and Research Gap</a:t>
            </a:r>
            <a:endParaRPr/>
          </a:p>
          <a:p>
            <a:pPr indent="-12700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 Methodology</a:t>
            </a:r>
            <a:endParaRPr/>
          </a:p>
          <a:p>
            <a:pPr indent="-12700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Algorithms: Random Forest / XGBoost, LSTM and Time-Series Anomaly Detection</a:t>
            </a:r>
            <a:endParaRPr/>
          </a:p>
          <a:p>
            <a:pPr indent="-12700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 Comparison</a:t>
            </a:r>
            <a:endParaRPr/>
          </a:p>
          <a:p>
            <a:pPr indent="-12700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Implementation Idea and System Modules</a:t>
            </a:r>
            <a:endParaRPr/>
          </a:p>
          <a:p>
            <a:pPr indent="-12700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 </a:t>
            </a:r>
            <a:endParaRPr/>
          </a:p>
        </p:txBody>
      </p:sp>
      <p:sp>
        <p:nvSpPr>
          <p:cNvPr id="44" name="Google Shape;44;p1"/>
          <p:cNvSpPr txBox="1"/>
          <p:nvPr/>
        </p:nvSpPr>
        <p:spPr>
          <a:xfrm>
            <a:off x="10927080" y="64008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RESEARCH OBJECTIVE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Develop a machine learning framework to detect artificial price inflation and fake discount patterns in e-commerce.</a:t>
            </a:r>
            <a:endParaRPr lang="en-US" sz="30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Analyze historical pricing behavior to identify manipulation patterns before a sale.</a:t>
            </a:r>
            <a:endParaRPr lang="en-US" sz="30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Support consumer protection and regulatory compliance with explainable risk scoring.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PICOC FRAMEWORK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P: </a:t>
            </a:r>
            <a:r>
              <a:rPr lang="en-US" sz="2200" dirty="0">
                <a:solidFill>
                  <a:schemeClr val="tx1"/>
                </a:solidFill>
              </a:rPr>
              <a:t>Population: Historical and current e-commerce product price data</a:t>
            </a:r>
            <a:endParaRPr lang="en-US" sz="2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I: </a:t>
            </a:r>
            <a:r>
              <a:rPr lang="en-US" sz="2200" dirty="0">
                <a:solidFill>
                  <a:schemeClr val="tx1"/>
                </a:solidFill>
              </a:rPr>
              <a:t>Intervention: ML models (time-series anomaly detection, Random Forest/XGBoost, LSTM)</a:t>
            </a:r>
            <a:endParaRPr lang="en-US" sz="2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C: </a:t>
            </a:r>
            <a:r>
              <a:rPr lang="en-US" sz="2200" dirty="0">
                <a:solidFill>
                  <a:schemeClr val="tx1"/>
                </a:solidFill>
              </a:rPr>
              <a:t>Comparison: Traditional flat rule-based discount checks (simple average-price comparison)</a:t>
            </a:r>
            <a:endParaRPr lang="en-US" sz="2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O: </a:t>
            </a:r>
            <a:r>
              <a:rPr lang="en-US" sz="2200" dirty="0">
                <a:solidFill>
                  <a:schemeClr val="tx1"/>
                </a:solidFill>
              </a:rPr>
              <a:t>Outcome: Accurate manipulation-pattern detection, risk scoring, and explainable recommendations</a:t>
            </a:r>
            <a:endParaRPr lang="en-US" sz="2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C: </a:t>
            </a:r>
            <a:r>
              <a:rPr lang="en-US" sz="2200" dirty="0">
                <a:solidFill>
                  <a:schemeClr val="tx1"/>
                </a:solidFill>
              </a:rPr>
              <a:t>Context: Online retail/e-commerce marketplaces where dynamic pricing and seasonal sales are common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PROBLEM IDENTIFICATION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Sellers inflate prices just before a sale and then advertise a large “discount”.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Fake anchor prices and short-lived or repeated price inflation mislead consumers.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Simple average-price comparison cannot capture these varied manipulation patterns.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Regulators and consumers get no explainable evidence of manipulation.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FLOW DIAGRAM</a:t>
            </a:r>
            <a:endParaRPr lang="en-US" sz="40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2331720" cy="1371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21792" y="1783080"/>
            <a:ext cx="2185416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1. Price Data Collection</a:t>
            </a:r>
            <a:endParaRPr lang="en-US" sz="1700" dirty="0"/>
          </a:p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Historical and current product prices</a:t>
            </a:r>
            <a:endParaRPr lang="en-US" sz="1700" dirty="0"/>
          </a:p>
        </p:txBody>
      </p:sp>
      <p:sp>
        <p:nvSpPr>
          <p:cNvPr id="5" name="Step 2"/>
          <p:cNvSpPr/>
          <p:nvPr/>
        </p:nvSpPr>
        <p:spPr>
          <a:xfrm>
            <a:off x="3465576" y="1737360"/>
            <a:ext cx="2331720" cy="1371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3538728" y="1783080"/>
            <a:ext cx="2185416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2. Preprocessing</a:t>
            </a:r>
            <a:endParaRPr lang="en-US" sz="1700" dirty="0"/>
          </a:p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Clean, fill gaps, normalise</a:t>
            </a:r>
            <a:endParaRPr lang="en-US" sz="1700" dirty="0"/>
          </a:p>
        </p:txBody>
      </p:sp>
      <p:sp>
        <p:nvSpPr>
          <p:cNvPr id="7" name="Step 3"/>
          <p:cNvSpPr/>
          <p:nvPr/>
        </p:nvSpPr>
        <p:spPr>
          <a:xfrm>
            <a:off x="6382512" y="1737360"/>
            <a:ext cx="2331720" cy="1371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55664" y="1783080"/>
            <a:ext cx="2185416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3. Feature Engineering</a:t>
            </a:r>
            <a:endParaRPr lang="en-US" sz="1700" dirty="0"/>
          </a:p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Volatility, inflation duration, recurrence</a:t>
            </a:r>
            <a:endParaRPr lang="en-US" sz="1700" dirty="0"/>
          </a:p>
        </p:txBody>
      </p:sp>
      <p:sp>
        <p:nvSpPr>
          <p:cNvPr id="9" name="Step 4"/>
          <p:cNvSpPr/>
          <p:nvPr/>
        </p:nvSpPr>
        <p:spPr>
          <a:xfrm>
            <a:off x="9299448" y="1737360"/>
            <a:ext cx="2331720" cy="1371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372600" y="1783080"/>
            <a:ext cx="2185416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4. Anomaly Detection</a:t>
            </a:r>
            <a:endParaRPr lang="en-US" sz="1700" dirty="0"/>
          </a:p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Flag abnormal price spikes</a:t>
            </a:r>
            <a:endParaRPr lang="en-US" sz="1700" dirty="0"/>
          </a:p>
        </p:txBody>
      </p:sp>
      <p:sp>
        <p:nvSpPr>
          <p:cNvPr id="11" name="Step 5"/>
          <p:cNvSpPr/>
          <p:nvPr/>
        </p:nvSpPr>
        <p:spPr>
          <a:xfrm>
            <a:off x="9299448" y="4114800"/>
            <a:ext cx="2331720" cy="1371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9372600" y="4160520"/>
            <a:ext cx="2185416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5. Pattern Classification</a:t>
            </a:r>
            <a:endParaRPr lang="en-US" sz="1700" dirty="0"/>
          </a:p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RF / XGBoost + LSTM</a:t>
            </a:r>
            <a:endParaRPr lang="en-US" sz="1700" dirty="0"/>
          </a:p>
        </p:txBody>
      </p:sp>
      <p:sp>
        <p:nvSpPr>
          <p:cNvPr id="13" name="Step 6"/>
          <p:cNvSpPr/>
          <p:nvPr/>
        </p:nvSpPr>
        <p:spPr>
          <a:xfrm>
            <a:off x="6382512" y="4114800"/>
            <a:ext cx="2331720" cy="1371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55664" y="4160520"/>
            <a:ext cx="2185416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6. Risk Scoring</a:t>
            </a:r>
            <a:endParaRPr lang="en-US" sz="1700" dirty="0"/>
          </a:p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Confidence score per pattern</a:t>
            </a:r>
            <a:endParaRPr lang="en-US" sz="1700" dirty="0"/>
          </a:p>
        </p:txBody>
      </p:sp>
      <p:sp>
        <p:nvSpPr>
          <p:cNvPr id="15" name="Step 7"/>
          <p:cNvSpPr/>
          <p:nvPr/>
        </p:nvSpPr>
        <p:spPr>
          <a:xfrm>
            <a:off x="3465576" y="4114800"/>
            <a:ext cx="2331720" cy="1371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3538728" y="4160520"/>
            <a:ext cx="2185416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7. Explainable Output</a:t>
            </a:r>
            <a:endParaRPr lang="en-US" sz="1700" dirty="0"/>
          </a:p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Pattern, risk score, reasons</a:t>
            </a:r>
            <a:endParaRPr lang="en-US" sz="1700" dirty="0"/>
          </a:p>
        </p:txBody>
      </p:sp>
      <p:sp>
        <p:nvSpPr>
          <p:cNvPr id="17" name="Arrow 1"/>
          <p:cNvSpPr/>
          <p:nvPr/>
        </p:nvSpPr>
        <p:spPr>
          <a:xfrm>
            <a:off x="2880360" y="2423160"/>
            <a:ext cx="585216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Arrow 2"/>
          <p:cNvSpPr/>
          <p:nvPr/>
        </p:nvSpPr>
        <p:spPr>
          <a:xfrm>
            <a:off x="5797296" y="2423160"/>
            <a:ext cx="585216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Arrow 3"/>
          <p:cNvSpPr/>
          <p:nvPr/>
        </p:nvSpPr>
        <p:spPr>
          <a:xfrm>
            <a:off x="8714232" y="2423160"/>
            <a:ext cx="585216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Arrow 4"/>
          <p:cNvSpPr/>
          <p:nvPr/>
        </p:nvSpPr>
        <p:spPr>
          <a:xfrm>
            <a:off x="10465308" y="3108960"/>
            <a:ext cx="0" cy="100584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Arrow 5"/>
          <p:cNvSpPr/>
          <p:nvPr/>
        </p:nvSpPr>
        <p:spPr>
          <a:xfrm flipH="1">
            <a:off x="8714232" y="4800600"/>
            <a:ext cx="585216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Arrow 6"/>
          <p:cNvSpPr/>
          <p:nvPr/>
        </p:nvSpPr>
        <p:spPr>
          <a:xfrm flipH="1">
            <a:off x="5797296" y="4800600"/>
            <a:ext cx="585216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548640" y="4114800"/>
            <a:ext cx="2825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INPUT: </a:t>
            </a:r>
            <a:r>
              <a:rPr lang="en-US" sz="1600" dirty="0">
                <a:solidFill>
                  <a:schemeClr val="tx1"/>
                </a:solidFill>
              </a:rPr>
              <a:t>product price history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OUTPUT: </a:t>
            </a:r>
            <a:r>
              <a:rPr lang="en-US" sz="1600" dirty="0">
                <a:solidFill>
                  <a:schemeClr val="tx1"/>
                </a:solidFill>
              </a:rPr>
              <a:t>manipulation pattern + risk score + explanation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/>
        </p:nvSpPr>
        <p:spPr>
          <a:xfrm>
            <a:off x="594360" y="228600"/>
            <a:ext cx="109728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F4E79"/>
                </a:solidFill>
                <a:latin typeface="Play"/>
                <a:ea typeface="Play"/>
                <a:cs typeface="Play"/>
                <a:sym typeface="Play"/>
              </a:rPr>
              <a:t>LITERATURE SURVEY  </a:t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40080" y="1143000"/>
            <a:ext cx="10881300" cy="85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0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40080" y="1143000"/>
            <a:ext cx="10881300" cy="50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04671" y="1271016"/>
            <a:ext cx="384000" cy="26520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1280160" y="1234440"/>
            <a:ext cx="9646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Machine Learning-driven Dynamic Pricing Strategies in E-Commerce</a:t>
            </a:r>
            <a:endParaRPr/>
          </a:p>
        </p:txBody>
      </p:sp>
      <p:sp>
        <p:nvSpPr>
          <p:cNvPr id="51" name="Google Shape;51;p2"/>
          <p:cNvSpPr txBox="1"/>
          <p:nvPr/>
        </p:nvSpPr>
        <p:spPr>
          <a:xfrm>
            <a:off x="11045952" y="1261872"/>
            <a:ext cx="31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2023</a:t>
            </a:r>
            <a:endParaRPr/>
          </a:p>
        </p:txBody>
      </p:sp>
      <p:sp>
        <p:nvSpPr>
          <p:cNvPr id="52" name="Google Shape;52;p2"/>
          <p:cNvSpPr txBox="1"/>
          <p:nvPr/>
        </p:nvSpPr>
        <p:spPr>
          <a:xfrm>
            <a:off x="822959" y="1755648"/>
            <a:ext cx="10515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ML-based dynamic pricing using historical transaction data and Gradient Boosting.</a:t>
            </a:r>
            <a:endParaRPr/>
          </a:p>
        </p:txBody>
      </p:sp>
      <p:sp>
        <p:nvSpPr>
          <p:cNvPr id="53" name="Google Shape;53;p2"/>
          <p:cNvSpPr txBox="1"/>
          <p:nvPr/>
        </p:nvSpPr>
        <p:spPr>
          <a:xfrm>
            <a:off x="822959" y="2221991"/>
            <a:ext cx="10515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Relevance: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ML-driven price prediction and feature-based manipulation detection.</a:t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40080" y="2130552"/>
            <a:ext cx="10881300" cy="85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0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40080" y="2130552"/>
            <a:ext cx="10881300" cy="50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04671" y="2258568"/>
            <a:ext cx="384000" cy="26520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7" name="Google Shape;57;p2"/>
          <p:cNvSpPr txBox="1"/>
          <p:nvPr/>
        </p:nvSpPr>
        <p:spPr>
          <a:xfrm>
            <a:off x="1280160" y="2221992"/>
            <a:ext cx="9646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Competition and the Regulation of Fictitious Pricing</a:t>
            </a:r>
            <a:endParaRPr/>
          </a:p>
        </p:txBody>
      </p:sp>
      <p:sp>
        <p:nvSpPr>
          <p:cNvPr id="58" name="Google Shape;58;p2"/>
          <p:cNvSpPr txBox="1"/>
          <p:nvPr/>
        </p:nvSpPr>
        <p:spPr>
          <a:xfrm>
            <a:off x="11045952" y="2249424"/>
            <a:ext cx="31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2023</a:t>
            </a:r>
            <a:endParaRPr/>
          </a:p>
        </p:txBody>
      </p:sp>
      <p:sp>
        <p:nvSpPr>
          <p:cNvPr id="59" name="Google Shape;59;p2"/>
          <p:cNvSpPr txBox="1"/>
          <p:nvPr/>
        </p:nvSpPr>
        <p:spPr>
          <a:xfrm>
            <a:off x="822959" y="2743200"/>
            <a:ext cx="10515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Examines fictitious reference prices, deception and consumer welfare.</a:t>
            </a:r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822959" y="3209544"/>
            <a:ext cx="10515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Relevance: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the behavioural and regulatory basis for detecting misleading discounts.</a:t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640080" y="3118104"/>
            <a:ext cx="10881300" cy="85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0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40080" y="3118104"/>
            <a:ext cx="10881300" cy="50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04671" y="3246120"/>
            <a:ext cx="384000" cy="26520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64" name="Google Shape;64;p2"/>
          <p:cNvSpPr txBox="1"/>
          <p:nvPr/>
        </p:nvSpPr>
        <p:spPr>
          <a:xfrm>
            <a:off x="1280160" y="3209544"/>
            <a:ext cx="9646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Dynamic Pricing with Volume Discounts in Online Settings</a:t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11045952" y="3236976"/>
            <a:ext cx="31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2023</a:t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>
            <a:off x="822959" y="3730752"/>
            <a:ext cx="10515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Studies online learning and pricing decisions with volume discounts.</a:t>
            </a:r>
            <a:endParaRPr/>
          </a:p>
        </p:txBody>
      </p:sp>
      <p:sp>
        <p:nvSpPr>
          <p:cNvPr id="67" name="Google Shape;67;p2"/>
          <p:cNvSpPr txBox="1"/>
          <p:nvPr/>
        </p:nvSpPr>
        <p:spPr>
          <a:xfrm>
            <a:off x="822959" y="4197096"/>
            <a:ext cx="10515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Relevance: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how pricing patterns can change with demand and selling conditions.</a:t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640080" y="4105656"/>
            <a:ext cx="10881300" cy="85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0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40080" y="4105656"/>
            <a:ext cx="10881300" cy="50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804671" y="4233672"/>
            <a:ext cx="384000" cy="26520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71" name="Google Shape;71;p2"/>
          <p:cNvSpPr txBox="1"/>
          <p:nvPr/>
        </p:nvSpPr>
        <p:spPr>
          <a:xfrm>
            <a:off x="1280160" y="4197096"/>
            <a:ext cx="9646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Dynamic Pricing Method in the E-Commerce Industry Using Machine Learning</a:t>
            </a:r>
            <a:endParaRPr/>
          </a:p>
        </p:txBody>
      </p:sp>
      <p:sp>
        <p:nvSpPr>
          <p:cNvPr id="72" name="Google Shape;72;p2"/>
          <p:cNvSpPr txBox="1"/>
          <p:nvPr/>
        </p:nvSpPr>
        <p:spPr>
          <a:xfrm>
            <a:off x="11045952" y="4224528"/>
            <a:ext cx="31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2024</a:t>
            </a:r>
            <a:endParaRPr/>
          </a:p>
        </p:txBody>
      </p:sp>
      <p:sp>
        <p:nvSpPr>
          <p:cNvPr id="73" name="Google Shape;73;p2"/>
          <p:cNvSpPr txBox="1"/>
          <p:nvPr/>
        </p:nvSpPr>
        <p:spPr>
          <a:xfrm>
            <a:off x="822959" y="4718304"/>
            <a:ext cx="10515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Compares Naive Bayes, SVM, decision trees and k-NN for e-commerce pricing.</a:t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822959" y="5184648"/>
            <a:ext cx="10515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Relevance: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comparing ML classifiers for price-change pattern classification.</a:t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640080" y="5093208"/>
            <a:ext cx="10881300" cy="85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0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640080" y="5093208"/>
            <a:ext cx="10881300" cy="50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804671" y="5221224"/>
            <a:ext cx="384000" cy="26520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1280160" y="5184648"/>
            <a:ext cx="9646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Analysis and Estimation of Discounts on Product Prices in E-Commerce Sites</a:t>
            </a:r>
            <a:endParaRPr/>
          </a:p>
        </p:txBody>
      </p:sp>
      <p:sp>
        <p:nvSpPr>
          <p:cNvPr id="79" name="Google Shape;79;p2"/>
          <p:cNvSpPr txBox="1"/>
          <p:nvPr/>
        </p:nvSpPr>
        <p:spPr>
          <a:xfrm>
            <a:off x="11045952" y="5212080"/>
            <a:ext cx="31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2024</a:t>
            </a:r>
            <a:endParaRPr/>
          </a:p>
        </p:txBody>
      </p:sp>
      <p:sp>
        <p:nvSpPr>
          <p:cNvPr id="80" name="Google Shape;80;p2"/>
          <p:cNvSpPr txBox="1"/>
          <p:nvPr/>
        </p:nvSpPr>
        <p:spPr>
          <a:xfrm>
            <a:off x="822959" y="5705856"/>
            <a:ext cx="10515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Analyses discount percentage, duration, product features and consumer feedback.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/>
        </p:nvSpPr>
        <p:spPr>
          <a:xfrm>
            <a:off x="594360" y="228600"/>
            <a:ext cx="109728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F4E79"/>
                </a:solidFill>
                <a:latin typeface="Play"/>
                <a:ea typeface="Play"/>
                <a:cs typeface="Play"/>
                <a:sym typeface="Play"/>
              </a:rPr>
              <a:t>LITERATURE SURVEY  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640080" y="1143000"/>
            <a:ext cx="10881300" cy="85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0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40080" y="1143000"/>
            <a:ext cx="10881300" cy="50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04671" y="1271016"/>
            <a:ext cx="384000" cy="26520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86" name="Google Shape;86;p3"/>
          <p:cNvSpPr txBox="1"/>
          <p:nvPr/>
        </p:nvSpPr>
        <p:spPr>
          <a:xfrm>
            <a:off x="1280160" y="1234440"/>
            <a:ext cx="9646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How do e-commerce platforms and retailers implement discount pricing policies under consumers are strategic?</a:t>
            </a:r>
            <a:endParaRPr/>
          </a:p>
        </p:txBody>
      </p:sp>
      <p:sp>
        <p:nvSpPr>
          <p:cNvPr id="87" name="Google Shape;87;p3"/>
          <p:cNvSpPr txBox="1"/>
          <p:nvPr/>
        </p:nvSpPr>
        <p:spPr>
          <a:xfrm>
            <a:off x="11045952" y="1261872"/>
            <a:ext cx="31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2024</a:t>
            </a:r>
            <a:endParaRPr/>
          </a:p>
        </p:txBody>
      </p:sp>
      <p:sp>
        <p:nvSpPr>
          <p:cNvPr id="88" name="Google Shape;88;p3"/>
          <p:cNvSpPr txBox="1"/>
          <p:nvPr/>
        </p:nvSpPr>
        <p:spPr>
          <a:xfrm>
            <a:off x="822959" y="1755648"/>
            <a:ext cx="10515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Studies discount pricing policies under strategic consumer behaviour.</a:t>
            </a:r>
            <a:endParaRPr/>
          </a:p>
        </p:txBody>
      </p:sp>
      <p:sp>
        <p:nvSpPr>
          <p:cNvPr id="89" name="Google Shape;89;p3"/>
          <p:cNvSpPr txBox="1"/>
          <p:nvPr/>
        </p:nvSpPr>
        <p:spPr>
          <a:xfrm>
            <a:off x="822959" y="2221991"/>
            <a:ext cx="10515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Relevance: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consumer-response context to suspicious discount pattern analysis.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640080" y="2130552"/>
            <a:ext cx="10881300" cy="85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0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40080" y="2130552"/>
            <a:ext cx="10881300" cy="50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804671" y="2258568"/>
            <a:ext cx="384000" cy="26520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93" name="Google Shape;93;p3"/>
          <p:cNvSpPr txBox="1"/>
          <p:nvPr/>
        </p:nvSpPr>
        <p:spPr>
          <a:xfrm>
            <a:off x="1280160" y="2221992"/>
            <a:ext cx="9646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Dynamic Pricing for Anomaly Detection in Online Market Places</a:t>
            </a:r>
            <a:endParaRPr/>
          </a:p>
        </p:txBody>
      </p:sp>
      <p:sp>
        <p:nvSpPr>
          <p:cNvPr id="94" name="Google Shape;94;p3"/>
          <p:cNvSpPr txBox="1"/>
          <p:nvPr/>
        </p:nvSpPr>
        <p:spPr>
          <a:xfrm>
            <a:off x="11045952" y="2249424"/>
            <a:ext cx="31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2024</a:t>
            </a:r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822959" y="2743200"/>
            <a:ext cx="10515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Predicts listing prices and flags large deviations between predicted and listed prices.</a:t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822959" y="3209544"/>
            <a:ext cx="10515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Relevance: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close to the proposed anomaly-based price manipulation detection idea.</a:t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640080" y="3118104"/>
            <a:ext cx="10881300" cy="85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0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40080" y="3118104"/>
            <a:ext cx="10881300" cy="50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804671" y="3246120"/>
            <a:ext cx="384000" cy="26520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1280160" y="3209544"/>
            <a:ext cx="9646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Dynamic Pricing Models in E-Commerce: Exploring Machine Learning Techniques to Balance Profitability and Customer Satisfaction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11045952" y="3236976"/>
            <a:ext cx="31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22959" y="3730752"/>
            <a:ext cx="10515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RNN/LSTM with historical pricing, demand and customer behaviour.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822959" y="4197096"/>
            <a:ext cx="10515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Relevance: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LSTM for learning temporal price patterns.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640080" y="4105656"/>
            <a:ext cx="10881300" cy="85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0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40080" y="4105656"/>
            <a:ext cx="10881300" cy="50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804671" y="4233672"/>
            <a:ext cx="384000" cy="26520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1280160" y="4197096"/>
            <a:ext cx="9646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Real-time anomaly detection using deep learning in e-commerce platform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11045952" y="4224528"/>
            <a:ext cx="31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822959" y="4718304"/>
            <a:ext cx="10515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deep learning models for real-time anomaly scoring in e-commerce.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822959" y="5184648"/>
            <a:ext cx="10515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Relevance: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real-time anomaly detection as a complementary module.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640080" y="5093208"/>
            <a:ext cx="10881300" cy="85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0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40080" y="5093208"/>
            <a:ext cx="10881300" cy="50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04671" y="5221224"/>
            <a:ext cx="384000" cy="26520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1280160" y="5184648"/>
            <a:ext cx="9646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Machine Learning Driven Dynamic Pricing System for E-Commerce Revenue Optimization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11045952" y="5212080"/>
            <a:ext cx="31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822959" y="5705856"/>
            <a:ext cx="10515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Z-score normalization, RFE and BiLSTM with attention for dynamic pricing.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SYNTHESIS &amp; SUMMARIZE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Traditional discount validation (simple average-price comparison) has limited pattern coverage.</a:t>
            </a:r>
            <a:endParaRPr lang="en-US" sz="2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Machine learning enables detection of multiple manipulation patterns: pre-sale inflation, fake anchors, short-lived inflation, and repeated manipulation.</a:t>
            </a:r>
            <a:endParaRPr lang="en-US" sz="2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Explainability remains a challenge but is essential for regulatory and consumer trust.</a:t>
            </a:r>
            <a:endParaRPr lang="en-US" sz="2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Gaps exist in real-time detection and cross-platform generalizability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RESEARCH GAP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Lack of frameworks that detect multiple manipulation patterns simultaneously.</a:t>
            </a:r>
            <a:endParaRPr lang="en-US" sz="2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Insufficient handling of long-term price history for pattern recognition.</a:t>
            </a:r>
            <a:endParaRPr lang="en-US" sz="2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Limited interpretable risk-scoring models for regulatory use.</a:t>
            </a:r>
            <a:endParaRPr lang="en-US" sz="2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Need for confidence-scored, pattern-specific outputs rather than binary fake/genuine labels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RESEARCH METHODOLOGY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2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Time-series anomaly detection identifies abnormal price spikes and short-lived inflation.</a:t>
            </a:r>
            <a:endParaRPr lang="en-US" sz="2800" dirty="0"/>
          </a:p>
          <a:p>
            <a:pPr marL="342900" indent="-342900">
              <a:spcAft>
                <a:spcPts val="2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Random Forest/XGBoost classification detects recurring manipulation patterns and generates risk scores.</a:t>
            </a:r>
            <a:endParaRPr lang="en-US" sz="2800" dirty="0"/>
          </a:p>
          <a:p>
            <a:pPr marL="342900" indent="-342900">
              <a:spcAft>
                <a:spcPts val="2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LSTM learns temporal dependencies in price history to detect short-lived and recurring inflation.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Algorithm 1:</a:t>
            </a:r>
            <a:endParaRPr lang="en-US" sz="32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Random Forest / XGBoost Classifier</a:t>
            </a:r>
            <a:endParaRPr lang="en-US" sz="3200" dirty="0"/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Principle:</a:t>
            </a:r>
            <a:endParaRPr lang="en-US" sz="32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Classifies price-change sequences into manipulation patterns using engineered features (volatility, inflation duration, recurrence).</a:t>
            </a:r>
            <a:endParaRPr lang="en-US" sz="3200" dirty="0"/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Advantages:</a:t>
            </a:r>
            <a:endParaRPr lang="en-US" sz="3200" dirty="0"/>
          </a:p>
          <a:p>
            <a:pPr marL="342900" indent="-342900"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Handles non-linear pricing patterns.</a:t>
            </a:r>
            <a:endParaRPr lang="en-US" sz="3200" dirty="0"/>
          </a:p>
          <a:p>
            <a:pPr marL="342900" indent="-342900"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Provides feature importance for explainability.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Algorithm 2:</a:t>
            </a:r>
            <a:endParaRPr lang="en-US" sz="32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Long Short-Term Memory (LSTM)</a:t>
            </a:r>
            <a:endParaRPr lang="en-US" sz="3200" dirty="0"/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Principle:</a:t>
            </a:r>
            <a:endParaRPr lang="en-US" sz="32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A recurrent neural network that learns temporal pricing patterns and detects anomalies in sequential price data using memory cells and gates.</a:t>
            </a:r>
            <a:endParaRPr lang="en-US" sz="3200" dirty="0"/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Advantages:</a:t>
            </a:r>
            <a:endParaRPr lang="en-US" sz="3200" dirty="0"/>
          </a:p>
          <a:p>
            <a:pPr marL="342900" indent="-342900"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Captures temporal dependencies in price history.</a:t>
            </a:r>
            <a:endParaRPr lang="en-US" sz="3200" dirty="0"/>
          </a:p>
          <a:p>
            <a:pPr marL="342900" indent="-342900"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Detects short-lived and recurring inflation patterns.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Algorithm 3:</a:t>
            </a:r>
            <a:endParaRPr lang="en-US" sz="32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Time-Series Anomaly Detection</a:t>
            </a:r>
            <a:endParaRPr lang="en-US" sz="3200" dirty="0"/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Principle:</a:t>
            </a:r>
            <a:endParaRPr lang="en-US" sz="32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Learns what normal price behaviour looks like and flags points that deviate sharply from it (for example, using a rolling z-score or Isolation Forest).</a:t>
            </a:r>
            <a:endParaRPr lang="en-US" sz="3200" dirty="0"/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Advantages:</a:t>
            </a:r>
            <a:endParaRPr lang="en-US" sz="3200" dirty="0"/>
          </a:p>
          <a:p>
            <a:pPr marL="342900" indent="-342900"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Works without labelled data.</a:t>
            </a:r>
            <a:endParaRPr lang="en-US" sz="3200" dirty="0"/>
          </a:p>
          <a:p>
            <a:pPr marL="342900" indent="-342900"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Quickly finds abnormal spikes and short-lived inflation.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ALGORITHM COMPARISON</a:t>
            </a:r>
            <a:endParaRPr lang="en-US" sz="4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43281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Criteria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Rule-based check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Time-series anomaly detection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 / XGBoost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LSTM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Learning type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None (fixed rule)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Unsupervised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Supervised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Supervised (deep learning)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Input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Current price vs average price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Price time series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Engineered features (volatility, duration, recurrence)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Raw price sequences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Strength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Simple and fast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Finds spikes without labels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Handles non-linear patterns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Learns temporal dependencies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Misses short-lived and repeated patterns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May flag genuine sale spikes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Needs labels and feature engineering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Needs more data; harder to explain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Explainability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Medium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(feature importance)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Role here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 for comparison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Flags abnormal spikes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Classifies pattern, gives risk score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Detects sequential patterns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IMPLEMENTATION IDEA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Dataset: </a:t>
            </a:r>
            <a:r>
              <a:rPr lang="en-US" sz="2100" dirty="0">
                <a:solidFill>
                  <a:schemeClr val="tx1"/>
                </a:solidFill>
              </a:rPr>
              <a:t>Real e-commerce price histories (scraped, or from a price-history API such as Keepa).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Labelling: </a:t>
            </a:r>
            <a:r>
              <a:rPr lang="en-US" sz="2100" dirty="0">
                <a:solidFill>
                  <a:schemeClr val="tx1"/>
                </a:solidFill>
              </a:rPr>
              <a:t>No labelled public data exists, so manipulation patterns (pre-sale inflation, fake anchors, short-lived and repeated inflation) are injected synthetically to create ground truth.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Tools: </a:t>
            </a:r>
            <a:r>
              <a:rPr lang="en-US" sz="2100" dirty="0">
                <a:solidFill>
                  <a:schemeClr val="tx1"/>
                </a:solidFill>
              </a:rPr>
              <a:t>Python, pandas, scikit-learn, XGBoost, TensorFlow/Keras, SHAP.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Training setup: </a:t>
            </a:r>
            <a:r>
              <a:rPr lang="en-US" sz="2100" dirty="0">
                <a:solidFill>
                  <a:schemeClr val="tx1"/>
                </a:solidFill>
              </a:rPr>
              <a:t>Time-based train/test split so the model never sees future prices; hyperparameter tuning on a validation set.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Baseline: </a:t>
            </a:r>
            <a:r>
              <a:rPr lang="en-US" sz="2100" dirty="0">
                <a:solidFill>
                  <a:schemeClr val="tx1"/>
                </a:solidFill>
              </a:rPr>
              <a:t>Compare all models against the simple average-price discount check.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Evaluation: </a:t>
            </a:r>
            <a:r>
              <a:rPr lang="en-US" sz="2100" dirty="0">
                <a:solidFill>
                  <a:schemeClr val="tx1"/>
                </a:solidFill>
              </a:rPr>
              <a:t>Precision, recall, F1-score and ROC-AUC on detection of each manipulation pattern.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MODULES</a:t>
            </a:r>
            <a:endParaRPr lang="en-US" sz="4000" dirty="0"/>
          </a:p>
        </p:txBody>
      </p:sp>
      <p:sp>
        <p:nvSpPr>
          <p:cNvPr id="3" name="Module 1"/>
          <p:cNvSpPr/>
          <p:nvPr/>
        </p:nvSpPr>
        <p:spPr>
          <a:xfrm>
            <a:off x="548640" y="1645920"/>
            <a:ext cx="2103120" cy="35661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58368" y="1783080"/>
            <a:ext cx="18836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Module 1</a:t>
            </a:r>
            <a:endParaRPr lang="en-US" sz="1800" dirty="0"/>
          </a:p>
          <a:p>
            <a:pPr marL="0" indent="0" algn="ctr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Data Collection &amp; Preprocessing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Collect price history; clean, fill gaps and normalise.</a:t>
            </a:r>
            <a:endParaRPr lang="en-US" sz="1800" dirty="0"/>
          </a:p>
        </p:txBody>
      </p:sp>
      <p:sp>
        <p:nvSpPr>
          <p:cNvPr id="5" name="Module 2"/>
          <p:cNvSpPr/>
          <p:nvPr/>
        </p:nvSpPr>
        <p:spPr>
          <a:xfrm>
            <a:off x="2798064" y="1645920"/>
            <a:ext cx="2103120" cy="35661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2907792" y="1783080"/>
            <a:ext cx="18836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Module 2</a:t>
            </a:r>
            <a:endParaRPr lang="en-US" sz="1800" dirty="0"/>
          </a:p>
          <a:p>
            <a:pPr marL="0" indent="0" algn="ctr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Feature Engineering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Volatility, inflation duration, recurrence and discount %.</a:t>
            </a:r>
            <a:endParaRPr lang="en-US" sz="1800" dirty="0"/>
          </a:p>
        </p:txBody>
      </p:sp>
      <p:sp>
        <p:nvSpPr>
          <p:cNvPr id="7" name="Module 3"/>
          <p:cNvSpPr/>
          <p:nvPr/>
        </p:nvSpPr>
        <p:spPr>
          <a:xfrm>
            <a:off x="5047488" y="1645920"/>
            <a:ext cx="2103120" cy="35661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157216" y="1783080"/>
            <a:ext cx="18836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Module 3</a:t>
            </a:r>
            <a:endParaRPr lang="en-US" sz="1800" dirty="0"/>
          </a:p>
          <a:p>
            <a:pPr marL="0" indent="0" algn="ctr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Anomaly Detection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Time-series detection of abnormal spikes and short-lived inflation.</a:t>
            </a:r>
            <a:endParaRPr lang="en-US" sz="1800" dirty="0"/>
          </a:p>
        </p:txBody>
      </p:sp>
      <p:sp>
        <p:nvSpPr>
          <p:cNvPr id="9" name="Module 4"/>
          <p:cNvSpPr/>
          <p:nvPr/>
        </p:nvSpPr>
        <p:spPr>
          <a:xfrm>
            <a:off x="7296912" y="1645920"/>
            <a:ext cx="2103120" cy="35661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406640" y="1783080"/>
            <a:ext cx="18836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Module 4</a:t>
            </a:r>
            <a:endParaRPr lang="en-US" sz="1800" dirty="0"/>
          </a:p>
          <a:p>
            <a:pPr marL="0" indent="0" algn="ctr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Pattern Classification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RF / XGBoost and LSTM classify the manipulation pattern.</a:t>
            </a:r>
            <a:endParaRPr lang="en-US" sz="1800" dirty="0"/>
          </a:p>
        </p:txBody>
      </p:sp>
      <p:sp>
        <p:nvSpPr>
          <p:cNvPr id="11" name="Module 5"/>
          <p:cNvSpPr/>
          <p:nvPr/>
        </p:nvSpPr>
        <p:spPr>
          <a:xfrm>
            <a:off x="9546336" y="1645920"/>
            <a:ext cx="2103120" cy="35661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9656064" y="1783080"/>
            <a:ext cx="18836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Module 5</a:t>
            </a:r>
            <a:endParaRPr lang="en-US" sz="1800" dirty="0"/>
          </a:p>
          <a:p>
            <a:pPr marL="0" indent="0" algn="ctr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Risk Scoring &amp; Explanation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Confidence-scored risk with feature-importance reasons.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The framework detects multiple price-manipulation patterns by combining anomaly detection, Random Forest / XGBoost and LSTM.</a:t>
            </a:r>
            <a:endParaRPr lang="en-US" sz="2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It covers patterns that a simple average-price check misses: pre-sale inflation, fake anchors, short-lived and repeated inflation.</a:t>
            </a:r>
            <a:endParaRPr lang="en-US" sz="2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Explainable, confidence-scored risk outputs support consumer protection and regulatory compliance.</a:t>
            </a:r>
            <a:endParaRPr lang="en-US" sz="2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Future work: real-time detection and generalisation across e-commerce platforms.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/>
        </p:nvSpPr>
        <p:spPr>
          <a:xfrm>
            <a:off x="594360" y="228600"/>
            <a:ext cx="109728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F4E79"/>
                </a:solidFill>
                <a:latin typeface="Play"/>
                <a:ea typeface="Play"/>
                <a:cs typeface="Play"/>
                <a:sym typeface="Play"/>
              </a:rPr>
              <a:t>LITERATURE SURVEY  </a:t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640080" y="1143000"/>
            <a:ext cx="10881300" cy="85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0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40080" y="1143000"/>
            <a:ext cx="10881300" cy="50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804671" y="1271016"/>
            <a:ext cx="384000" cy="26520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1280160" y="1234440"/>
            <a:ext cx="9646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Data-Driven Dynamic Pricing: Sticky Fairness Concerns and the Exploitation-Exploration Trade-Off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11045952" y="1261872"/>
            <a:ext cx="31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822959" y="1755648"/>
            <a:ext cx="10515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reinforcement learning while incorporating cumulative fairness concerns.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822959" y="2221991"/>
            <a:ext cx="10515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Relevance: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Highlights fairness and trust as important checks alongside manipulation detection.</a:t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640080" y="2130552"/>
            <a:ext cx="10881300" cy="85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0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40080" y="2130552"/>
            <a:ext cx="10881300" cy="50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04671" y="2258568"/>
            <a:ext cx="384000" cy="26520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1280160" y="2221992"/>
            <a:ext cx="9646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Using Machine Learning for Dynamic Pricing Strategies in Retail and Online Markets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11045952" y="2249424"/>
            <a:ext cx="31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822959" y="2743200"/>
            <a:ext cx="10515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Reviews ML-based pricing, data preprocessing, model choice and evaluation.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822959" y="3209544"/>
            <a:ext cx="10515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Relevance: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the overall ML pipeline and transparent pricing decisions.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640080" y="3118104"/>
            <a:ext cx="10881300" cy="85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0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40080" y="3118104"/>
            <a:ext cx="10881300" cy="50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804671" y="3246120"/>
            <a:ext cx="384000" cy="26520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1280160" y="3209544"/>
            <a:ext cx="9646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The AI-driven evolution of dynamic pricing: a semi-systematic review and novel hierarchical classification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11045952" y="3236976"/>
            <a:ext cx="31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822959" y="3730752"/>
            <a:ext cx="10515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Reviews AI/ML, reinforcement learning and optimization approaches to dynamic pricing.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822959" y="4197096"/>
            <a:ext cx="10515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Relevance: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Positions the proposed framework within current AI-driven pricing research.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640080" y="4105656"/>
            <a:ext cx="10881300" cy="85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0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40080" y="4105656"/>
            <a:ext cx="10881300" cy="50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804671" y="4233672"/>
            <a:ext cx="384000" cy="26520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1280160" y="4197096"/>
            <a:ext cx="9646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Price Discrimination With Manipulable Observables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11045952" y="4224528"/>
            <a:ext cx="31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822959" y="4718304"/>
            <a:ext cx="10515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Studies personalized price discrimination, transparency and welfare implications.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822959" y="5184648"/>
            <a:ext cx="10515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Relevance: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investigating suspicious price differences and transparency concerns.</a:t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640080" y="5093208"/>
            <a:ext cx="10881300" cy="85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0E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40080" y="5093208"/>
            <a:ext cx="10881300" cy="50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804671" y="5221224"/>
            <a:ext cx="384000" cy="26520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1280160" y="5184648"/>
            <a:ext cx="9646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Unleashing the predators: Autonomous predation and manipulation through algorithms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11045952" y="5212080"/>
            <a:ext cx="31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822959" y="5705856"/>
            <a:ext cx="10515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Focus: </a:t>
            </a:r>
            <a:r>
              <a:rPr b="1" lang="en-US" sz="88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Examines manipulative outcomes that can emerge from reinforcement-learning pricing.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RCT CIA2 Plain">
  <a:themeElements>
    <a:clrScheme name="KRCT CIA2 Plai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404040"/>
      </a:accent2>
      <a:accent3>
        <a:srgbClr val="595959"/>
      </a:accent3>
      <a:accent4>
        <a:srgbClr val="7F7F7F"/>
      </a:accent4>
      <a:accent5>
        <a:srgbClr val="A6A6A6"/>
      </a:accent5>
      <a:accent6>
        <a:srgbClr val="262626"/>
      </a:accent6>
      <a:hlink>
        <a:srgbClr val="0563C1"/>
      </a:hlink>
      <a:folHlink>
        <a:srgbClr val="0563C1"/>
      </a:folHlink>
    </a:clrScheme>
    <a:fontScheme name="KRCT CIA2 Plain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